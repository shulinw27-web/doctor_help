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7c164d99c4cb5" /><Relationship Type="http://schemas.openxmlformats.org/officeDocument/2006/relationships/extended-properties" Target="/docProps/app.xml" Id="R2e0aa918e40342d2" /><Relationship Type="http://schemas.openxmlformats.org/officeDocument/2006/relationships/officeDocument" Target="/ppt/presentation.xml" Id="Rc222bff394a446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879123a014bce"/>
  </p:sldMasterIdLst>
  <p:notesMasterIdLst>
    <p:notesMasterId xmlns:r="http://schemas.openxmlformats.org/officeDocument/2006/relationships" r:id="Rabdd7f53563d4334"/>
  </p:notesMasterIdLst>
  <p:sldIdLst>
    <p:sldId xmlns:r="http://schemas.openxmlformats.org/officeDocument/2006/relationships" id="256" r:id="R11f7a8a0c1e247ca"/>
    <p:sldId xmlns:r="http://schemas.openxmlformats.org/officeDocument/2006/relationships" id="257" r:id="R893d6717c17e45aa"/>
    <p:sldId xmlns:r="http://schemas.openxmlformats.org/officeDocument/2006/relationships" id="258" r:id="R0ae026e9c50f4a13"/>
    <p:sldId xmlns:r="http://schemas.openxmlformats.org/officeDocument/2006/relationships" id="259" r:id="R4e4c87e4414c419b"/>
    <p:sldId xmlns:r="http://schemas.openxmlformats.org/officeDocument/2006/relationships" id="260" r:id="R44f3a34ac96f4ab6"/>
    <p:sldId xmlns:r="http://schemas.openxmlformats.org/officeDocument/2006/relationships" id="261" r:id="Rda0609bcc6bb4287"/>
    <p:sldId xmlns:r="http://schemas.openxmlformats.org/officeDocument/2006/relationships" id="262" r:id="R0343e3f75f71402a"/>
    <p:sldId xmlns:r="http://schemas.openxmlformats.org/officeDocument/2006/relationships" id="263" r:id="R0040f2dbc95d42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d33727006490f" /><Relationship Type="http://schemas.openxmlformats.org/officeDocument/2006/relationships/slideMaster" Target="/ppt/slideMasters/slideMaster1.xml" Id="Rbcc879123a014bce" /><Relationship Type="http://schemas.openxmlformats.org/officeDocument/2006/relationships/notesMaster" Target="/ppt/notesMasters/notesMaster1.xml" Id="Rabdd7f53563d4334" /><Relationship Type="http://schemas.openxmlformats.org/officeDocument/2006/relationships/presProps" Target="/ppt/presProps.xml" Id="Rff3d957930fd4a8a" /><Relationship Type="http://schemas.openxmlformats.org/officeDocument/2006/relationships/tableStyles" Target="/ppt/tableStyles.xml" Id="R96bdbe7c6bbd4fcd" /><Relationship Type="http://schemas.openxmlformats.org/officeDocument/2006/relationships/slide" Target="/ppt/slides/slide1.xml" Id="R11f7a8a0c1e247ca" /><Relationship Type="http://schemas.openxmlformats.org/officeDocument/2006/relationships/slide" Target="/ppt/slides/slide2.xml" Id="R893d6717c17e45aa" /><Relationship Type="http://schemas.openxmlformats.org/officeDocument/2006/relationships/slide" Target="/ppt/slides/slide3.xml" Id="R0ae026e9c50f4a13" /><Relationship Type="http://schemas.openxmlformats.org/officeDocument/2006/relationships/slide" Target="/ppt/slides/slide4.xml" Id="R4e4c87e4414c419b" /><Relationship Type="http://schemas.openxmlformats.org/officeDocument/2006/relationships/slide" Target="/ppt/slides/slide5.xml" Id="R44f3a34ac96f4ab6" /><Relationship Type="http://schemas.openxmlformats.org/officeDocument/2006/relationships/slide" Target="/ppt/slides/slide6.xml" Id="Rda0609bcc6bb4287" /><Relationship Type="http://schemas.openxmlformats.org/officeDocument/2006/relationships/slide" Target="/ppt/slides/slide7.xml" Id="R0343e3f75f71402a" /><Relationship Type="http://schemas.openxmlformats.org/officeDocument/2006/relationships/slide" Target="/ppt/slides/slide8.xml" Id="R0040f2dbc95d42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490a27c00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3deb611624fa0" /><Relationship Type="http://schemas.openxmlformats.org/officeDocument/2006/relationships/notesMaster" Target="/ppt/notesMasters/notesMaster1.xml" Id="R6ba0365c04e547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44ec8a52b54e1a" /><Relationship Type="http://schemas.openxmlformats.org/officeDocument/2006/relationships/notesMaster" Target="/ppt/notesMasters/notesMaster1.xml" Id="Rc094c572f008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43d9804d54328" /><Relationship Type="http://schemas.openxmlformats.org/officeDocument/2006/relationships/notesMaster" Target="/ppt/notesMasters/notesMaster1.xml" Id="Rdad26715cfea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8a3c4989bb47a9" /><Relationship Type="http://schemas.openxmlformats.org/officeDocument/2006/relationships/notesMaster" Target="/ppt/notesMasters/notesMaster1.xml" Id="Rfcd7f504b85a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e92998bc90487f" /><Relationship Type="http://schemas.openxmlformats.org/officeDocument/2006/relationships/notesMaster" Target="/ppt/notesMasters/notesMaster1.xml" Id="R58002b7dedcd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de1f8118b4e2e" /><Relationship Type="http://schemas.openxmlformats.org/officeDocument/2006/relationships/notesMaster" Target="/ppt/notesMasters/notesMaster1.xml" Id="R013ce036d12c44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ac265bebfc4c96" /><Relationship Type="http://schemas.openxmlformats.org/officeDocument/2006/relationships/notesMaster" Target="/ppt/notesMasters/notesMaster1.xml" Id="Rab33d102e96c44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a9e7b8258241b8" /><Relationship Type="http://schemas.openxmlformats.org/officeDocument/2006/relationships/notesMaster" Target="/ppt/notesMasters/notesMaster1.xml" Id="Rb9a2684585614d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af1fc236e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0d67a11ba4549" /><Relationship Type="http://schemas.openxmlformats.org/officeDocument/2006/relationships/slideLayout" Target="/ppt/slideLayouts/slideLayout1.xml" Id="Recd67630b5ef45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67630b5ef45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ef3208c9f4266" /><Relationship Type="http://schemas.openxmlformats.org/officeDocument/2006/relationships/notesSlide" Target="/ppt/notesSlides/notesSlide1.xml" Id="Rbbc5e296c4b8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f48953f894f5a" /><Relationship Type="http://schemas.openxmlformats.org/officeDocument/2006/relationships/notesSlide" Target="/ppt/notesSlides/notesSlide2.xml" Id="Rf1f8b4bd57fc46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3d1b34dbf4644" /><Relationship Type="http://schemas.openxmlformats.org/officeDocument/2006/relationships/notesSlide" Target="/ppt/notesSlides/notesSlide3.xml" Id="Rdeb8b0ac49054f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0902a30f4c3a" /><Relationship Type="http://schemas.openxmlformats.org/officeDocument/2006/relationships/notesSlide" Target="/ppt/notesSlides/notesSlide4.xml" Id="R47148331674d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740f5bb24cb8" /><Relationship Type="http://schemas.openxmlformats.org/officeDocument/2006/relationships/notesSlide" Target="/ppt/notesSlides/notesSlide5.xml" Id="R4cc742674503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2aa8b9f0a4a2d" /><Relationship Type="http://schemas.openxmlformats.org/officeDocument/2006/relationships/notesSlide" Target="/ppt/notesSlides/notesSlide6.xml" Id="Rd3b4731380cc48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552d04e684bdc" /><Relationship Type="http://schemas.openxmlformats.org/officeDocument/2006/relationships/notesSlide" Target="/ppt/notesSlides/notesSlide7.xml" Id="R28faf65fa92542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1accdf914e59" /><Relationship Type="http://schemas.openxmlformats.org/officeDocument/2006/relationships/notesSlide" Target="/ppt/notesSlides/notesSlide8.xml" Id="Re5c1c76ce29f42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D6CC9-551E-4CC8-B138-E2A82F0A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医生帮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B8C04-14BE-4AFD-9E1D-C9E3F581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AF7"/>
                </a:solidFill>
              </a:defRPr>
            </a:pPr>
            <a:r>
              <a:rPr sz="2100" b="0">
                <a:solidFill>
                  <a:srgbClr val="D9EAF7"/>
                </a:solidFill>
              </a:rPr>
              <a:t>院内门诊检测资料智能汇总助手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AE6F-872D-424C-AED8-A4C16FD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FB3C8"/>
                </a:solidFill>
              </a:defRPr>
            </a:pPr>
            <a:r>
              <a:rPr sz="1650" b="0">
                <a:solidFill>
                  <a:srgbClr val="9FB3C8"/>
                </a:solidFill>
              </a:rPr>
              <a:t>让医生更快看懂资料，把判断留给医生。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08AFE-8A97-421A-97B9-41480C39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048000" cy="32385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73E63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25B6A-5A9E-4512-B6AA-E9F9D49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228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本地部署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数据不出院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医生主导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5A56E-31FB-4086-AF00-428E0D04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3C8"/>
                </a:solidFill>
              </a:defRPr>
            </a:pPr>
            <a:r>
              <a:rPr sz="1050" b="0">
                <a:solidFill>
                  <a:srgbClr val="9FB3C8"/>
                </a:solidFill>
              </a:rPr>
              <a:t>演示版推广方案 · 2026</a:t>
            </a:r>
          </a:p>
        </p:txBody>
      </p:sp>
    </p:spTree>
    <p:extLst>
      <p:ext uri="{BB962C8B-B14F-4D97-AF65-F5344CB8AC3E}">
        <p14:creationId xmlns:p14="http://schemas.microsoft.com/office/powerpoint/2010/main" val="732133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9D722-2939-4D2F-B814-30D096C5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临床现场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1CC08-6159-4738-832A-5CAD7474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门诊资料处理的效率瓶颈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9D5E1-6844-4798-AEC1-D3EDF1F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报告分散、时间紧张、历史资料难横向比较，医生需要一个可信的信息助手。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5C557-EE3D-44E9-B260-ED4A073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3729-B956-43FC-92D8-CDC21868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资料分散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F124B-C294-4C18-A9F6-70262BB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检验、影像、就诊记录跨系统查看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A7357-F501-4E1E-9CDA-385962BA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26020-7E24-4095-8982-BA386CE0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趋势难见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33839-9D8D-483D-B45A-EA84A68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多次结果需人工比对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77C6A-43A5-492D-AC28-4D667A5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EA77B-F4B9-40AE-90D6-B324ADD0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时间宝贵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2C456-A3A3-4234-BF0E-4C276913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医生应聚焦判断与沟通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7D334-75D7-4B81-87C6-1F7EEE0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370270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D9DAA-3099-4339-B8D0-5B47BAA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35457-0B34-48FF-9A69-BE2C8A16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医生帮的边界清晰：辅助，不替代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83D23-EDC3-4DDD-B477-30C839D0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系统负责汇总、标注、追溯；诊断、处方与治疗决策始终由医生完成。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4CF25-2FFD-479E-AA83-38F320E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92A49-2D6B-4753-BA2C-2716456F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汇总资料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7C307-F4FB-4298-A320-07C852C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患者档案、检验、影像报告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04DE3-B130-4D43-9EFA-1B89D9B6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9D37F-5671-4E78-986B-15BE6FB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提示异常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00FD9-197F-4FD3-B4C4-BCDC20A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参考区间、趋势与待关注项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782B9-69A5-449A-89D1-8630B607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B809F-602C-4BD2-9F7B-EA206AA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保留证据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A7214-0B29-4FDD-B8EE-23E981D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每项输出可回溯原始资料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83FFC-1A97-49AA-A805-DD437E1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1738070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92464-929D-4F30-8722-14BED9E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当前能力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84D54-D15D-4937-9514-3AED670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演示版已形成门诊工作闭环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D90D2-32DF-432F-8403-6B8D26C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从登录到当天患者、患者档案、检测趋势和辅助汇总，已可现场演示。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A2297-E693-4E69-BAAD-FF1A1E0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8C31D-652D-43CA-948E-31B74BA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医生工作台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8735D-87D6-4E93-88BF-09C8936B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当天预约、叫号、候诊状态、姓名搜索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80B4-46C8-46A1-A72B-A0BDAE4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7B0F4-7EAF-4AB0-9502-873DD02E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患者档案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48988-EB8D-482F-B21E-E7BA022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历史就诊、检测指标、影像报告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552F5-8EFD-460B-9553-D712EAF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6EE69-1654-4804-B94A-5CF99E85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辅助分析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0A078-CEE9-40FE-A988-4F312A32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异常、趋势、证据来源与非诊断声明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45025-967E-4C1D-B8DC-7E23CA7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1863657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D0092-D21F-4EDD-94F7-41117F0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安全与治理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16318-8D41-47D8-999C-941B1C83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数据留在医院，能力沉淀在院内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64526-0272-4865-94FE-C635DAC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生产环境采用院内隔离部署，首期以只读接入和审计留痕为原则。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7D44-A910-4FD2-9563-A76948B5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B14FD-A22F-46F7-9519-E1B304A4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院内部署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09400-1A7B-4422-A4C6-F058943D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模型、知识库、日志均在本地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FB232-9BBB-4A4B-BF3C-00DE8CCC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EC106-FF5F-456F-A828-414A04C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只读对接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32209-FEE6-4AFF-8B93-240D3881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HIS、LIS、PACS/RIS 分阶段接入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96E69-4909-4121-A15C-E2E9E0C6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EBB88-CDAE-4365-BF68-42ED9D2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医生审核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F6873-DF2D-44DA-972D-8E99752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AI 输出仅供专业人员参考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0BDF0-8707-46A4-A01A-A43B693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1963897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BB536-3954-42E6-B4E8-E4EEE05E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知识资产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F8459-248A-419F-ACFE-1D6FEEC1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知识库让经验可复用、可沉淀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B73EF-4CC3-46B3-91E7-B00C1C07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知识按层级组织，医生可新增、点赞和追溯提供者，逐步形成医院自己的经验资产。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15B2-41BB-4DAD-AE07-57841C28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DB07-8347-4836-AAB3-D2664A6E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层级检索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B0B0E-06DE-4ECD-9BFC-6883324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分类 → 子类 → 主题 → 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AEC96-52A1-410E-B614-57A72B0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E64B1-4676-4A08-90AE-6EA5EBA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共建机制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4FDAF-F8F1-41C1-910A-689F237B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医生提供、院内审核、账号点赞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4323C-419D-443D-8C9E-04B97E0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7612F-AF11-4713-8FD1-801A37A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运营视图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235B3-0F6B-49CA-9ED9-FFA2F527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热门知识、总量与新增量可统计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30FF7-3A5A-4624-9AB8-30D2715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1966488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6234B-0575-4C2C-BC26-5F4A1675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实施路径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48B05-9925-459B-AB56-589D6B1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从演示到试点，再到产品化推广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79764-26D5-43F7-BC3A-5BAEAD06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以低风险演示建立共识，再在医院授权下逐步接入真实系统与数据。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FDD85-249C-41FF-924D-0186A2D5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BAA6B-9C64-4F7E-926E-4F21D4C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阶段一：演示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7C879-584D-43F1-BF1B-5D32E398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模拟数据验证工作流与可解释性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092E3-1AB7-44B5-B439-68DAC89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62ABA-6F0A-4A50-8BAB-6C4B572C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阶段二：试点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0F0E0-09B7-420A-ADF7-3FBDF7C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脱敏数据、只读接口、专家审核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CF801-4B25-46BD-A6F2-992C60C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263E7-3A7A-4951-AF26-B0C7460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阶段三：推广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1DAD9-CD53-4DDE-B4FB-4E74310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多科室覆盖、专病知识与运营看板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F7217-BB07-4CBE-9D3F-2FBCD6D0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914493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629EF-F789-4E1A-9809-237B72A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合作诉求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54720-B162-4275-9F3F-7D83186B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建议从一个可验证的门诊试点开始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948B3-3CAC-4E2A-A212-D21DEA3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请医院共同确认试点科室、接口范围和临床审核机制，以实际使用价值推进下一阶段。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C133C-B67B-4224-9C93-129AD73B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DB535-ABDE-4BB3-8AA2-BB701AB1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信息科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32334-7150-461D-9D96-F6C19E80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评估 OA/HIS/LIS/PACS 接口与内网部署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B325-67C5-47B3-ADB8-EB140277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F1986-DD39-4F87-AD02-CC4CE7E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临床科室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473C5-0819-45A3-875E-3AD8BC0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确认资料汇总规则与专家审核人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724B6-77B4-4A54-9E79-0EC5B10D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14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8DE22-CF45-4C56-B17B-4027851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管理层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94C8C-62BB-43D9-960B-2C0A872C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确定试点指标：使用率、资料处理时长、满意度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81B94-5E3B-4702-B4D4-7924135C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29AB1"/>
                </a:solidFill>
              </a:defRPr>
            </a:pPr>
            <a:r>
              <a:rPr sz="900" b="0">
                <a:solidFill>
                  <a:srgbClr val="829AB1"/>
                </a:solidFill>
              </a:rPr>
              <a:t>医生帮 · 院内医生智能助手</a:t>
            </a:r>
          </a:p>
        </p:txBody>
      </p:sp>
    </p:spTree>
    <p:extLst>
      <p:ext uri="{BB962C8B-B14F-4D97-AF65-F5344CB8AC3E}">
        <p14:creationId xmlns:p14="http://schemas.microsoft.com/office/powerpoint/2010/main" val="927713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2026-07-19T00:34:45.7200000Z</dcterms:created>
  <dcterms:modified xsi:type="dcterms:W3CDTF">2026-07-19T00:34:45.7210000Z</dcterms:modified>
</coreProperties>
</file>